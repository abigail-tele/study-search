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00" b="1">
                <a:solidFill>
                  <a:srgbClr val="11A99A"/>
                </a:solidFill>
                <a:latin typeface="Aptos"/>
              </a:defRPr>
            </a:pPr>
            <a:r>
              <a:t>CONGRESSIONAL APP CHALLENGE  • 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424160" cy="1325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ptos"/>
              </a:defRPr>
            </a:pPr>
            <a:r>
              <a:t>StudySearch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9601200" cy="1005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800" b="0">
                <a:solidFill>
                  <a:srgbClr val="FFFFFF"/>
                </a:solidFill>
                <a:latin typeface="Aptos"/>
              </a:defRPr>
            </a:pPr>
            <a:r>
              <a:t>Cancer clinical trials,</a:t>
            </a:r>
            <a:br/>
            <a:r>
              <a:t>explained in plain language.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212080"/>
            <a:ext cx="978408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600" b="0">
                <a:solidFill>
                  <a:srgbClr val="CFDBF0"/>
                </a:solidFill>
                <a:latin typeface="Aptos"/>
              </a:defRPr>
            </a:pPr>
            <a:r>
              <a:t>A student-built tool for patients and families to explore research.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1005840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1">
                <a:solidFill>
                  <a:srgbClr val="11A99A"/>
                </a:solidFill>
                <a:latin typeface="Aptos"/>
              </a:defRPr>
            </a:pPr>
            <a:r>
              <a:t>DEMO NOTE: preview interface uses example placeholder records.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1">
                <a:solidFill>
                  <a:srgbClr val="11A99A"/>
                </a:solidFill>
                <a:latin typeface="Aptos"/>
              </a:defRPr>
            </a:pPr>
            <a:r>
              <a:t>01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3200" b="1">
                <a:solidFill>
                  <a:srgbClr val="16233D"/>
                </a:solidFill>
                <a:latin typeface="Aptos"/>
              </a:defRPr>
            </a:pPr>
            <a:r>
              <a:t>Clinical trial information can be hard to navigate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60704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600" b="0">
                <a:solidFill>
                  <a:srgbClr val="5D6D84"/>
                </a:solidFill>
                <a:latin typeface="Aptos"/>
              </a:defRPr>
            </a:pPr>
            <a:r>
              <a:t>Important research information is often written for specialists.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10424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16233D"/>
                </a:solidFill>
                <a:latin typeface="Aptos"/>
              </a:defRPr>
            </a:pPr>
            <a:r>
              <a:t>•  Patients and families may not know where to start searching.</a:t>
            </a:r>
          </a:p>
          <a:p>
            <a:pPr>
              <a:spcAft>
                <a:spcPts val="1700"/>
              </a:spcAft>
              <a:defRPr sz="2100">
                <a:solidFill>
                  <a:srgbClr val="16233D"/>
                </a:solidFill>
                <a:latin typeface="Aptos"/>
              </a:defRPr>
            </a:pPr>
            <a:r>
              <a:t>•  Study descriptions can contain unfamiliar medical and research terms.</a:t>
            </a:r>
          </a:p>
          <a:p>
            <a:pPr>
              <a:spcAft>
                <a:spcPts val="1700"/>
              </a:spcAft>
              <a:defRPr sz="2100">
                <a:solidFill>
                  <a:srgbClr val="16233D"/>
                </a:solidFill>
                <a:latin typeface="Aptos"/>
              </a:defRPr>
            </a:pPr>
            <a:r>
              <a:t>•  Comparing study status, location, and requirements takes time.</a:t>
            </a:r>
          </a:p>
          <a:p>
            <a:pPr>
              <a:spcAft>
                <a:spcPts val="1700"/>
              </a:spcAft>
              <a:defRPr sz="2100">
                <a:solidFill>
                  <a:srgbClr val="16233D"/>
                </a:solidFill>
                <a:latin typeface="Aptos"/>
              </a:defRPr>
            </a:pPr>
            <a:r>
              <a:t>•  Confusing information can make it harder to prepare useful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1">
                <a:solidFill>
                  <a:srgbClr val="11A99A"/>
                </a:solidFill>
                <a:latin typeface="Aptos"/>
              </a:defRPr>
            </a:pPr>
            <a:r>
              <a:t>02 ·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3200" b="1">
                <a:solidFill>
                  <a:srgbClr val="16233D"/>
                </a:solidFill>
                <a:latin typeface="Aptos"/>
              </a:defRPr>
            </a:pPr>
            <a:r>
              <a:t>One clearer starting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60704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600" b="0">
                <a:solidFill>
                  <a:srgbClr val="5D6D84"/>
                </a:solidFill>
                <a:latin typeface="Aptos"/>
              </a:defRPr>
            </a:pPr>
            <a:r>
              <a:t>StudySearch helps people explore cancer clinical trials without replacing their care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424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16233D"/>
                </a:solidFill>
                <a:latin typeface="Aptos"/>
              </a:defRPr>
            </a:pPr>
            <a:r>
              <a:t>•  Search using a cancer type or everyday wording.</a:t>
            </a:r>
          </a:p>
          <a:p>
            <a:pPr>
              <a:spcAft>
                <a:spcPts val="1700"/>
              </a:spcAft>
              <a:defRPr sz="2000">
                <a:solidFill>
                  <a:srgbClr val="16233D"/>
                </a:solidFill>
                <a:latin typeface="Aptos"/>
              </a:defRPr>
            </a:pPr>
            <a:r>
              <a:t>•  See study cards with status, phase, sponsor, and update date.</a:t>
            </a:r>
          </a:p>
          <a:p>
            <a:pPr>
              <a:spcAft>
                <a:spcPts val="1700"/>
              </a:spcAft>
              <a:defRPr sz="2000">
                <a:solidFill>
                  <a:srgbClr val="16233D"/>
                </a:solidFill>
                <a:latin typeface="Aptos"/>
              </a:defRPr>
            </a:pPr>
            <a:r>
              <a:t>•  Open a plain-language overview and questions to discuss with a doctor.</a:t>
            </a:r>
          </a:p>
          <a:p>
            <a:pPr>
              <a:spcAft>
                <a:spcPts val="1700"/>
              </a:spcAft>
              <a:defRPr sz="2000">
                <a:solidFill>
                  <a:srgbClr val="16233D"/>
                </a:solidFill>
                <a:latin typeface="Aptos"/>
              </a:defRPr>
            </a:pPr>
            <a:r>
              <a:t>•  Follow links to official ClinicalTrials.gov records to verify details.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1">
                <a:solidFill>
                  <a:srgbClr val="11A99A"/>
                </a:solidFill>
                <a:latin typeface="Aptos"/>
              </a:defRPr>
            </a:pPr>
            <a:r>
              <a:t>03 · THE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3200" b="1">
                <a:solidFill>
                  <a:srgbClr val="16233D"/>
                </a:solidFill>
                <a:latin typeface="Aptos"/>
              </a:defRPr>
            </a:pPr>
            <a:r>
              <a:t>From search to better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60704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600" b="0">
                <a:solidFill>
                  <a:srgbClr val="5D6D84"/>
                </a:solidFill>
                <a:latin typeface="Aptos"/>
              </a:defRPr>
            </a:pPr>
            <a:r>
              <a:t>A simple flow keeps the experience focused.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423160"/>
            <a:ext cx="2560320" cy="2240280"/>
          </a:xfrm>
          <a:prstGeom prst="rect">
            <a:avLst/>
          </a:prstGeom>
          <a:solidFill>
            <a:srgbClr val="FFFFFF"/>
          </a:solidFill>
          <a:ln>
            <a:solidFill>
              <a:srgbClr val="DB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50292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200" b="1">
                <a:solidFill>
                  <a:srgbClr val="11A99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214884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000" b="1">
                <a:solidFill>
                  <a:srgbClr val="16233D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2148840" cy="8686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0">
                <a:solidFill>
                  <a:srgbClr val="5D6D84"/>
                </a:solidFill>
                <a:latin typeface="Aptos"/>
              </a:defRPr>
            </a:pPr>
            <a:r>
              <a:t>Enter a cancer type or choose a topic chip.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2423160"/>
            <a:ext cx="2560320" cy="2240280"/>
          </a:xfrm>
          <a:prstGeom prst="rect">
            <a:avLst/>
          </a:prstGeom>
          <a:solidFill>
            <a:srgbClr val="FFFFFF"/>
          </a:solidFill>
          <a:ln>
            <a:solidFill>
              <a:srgbClr val="DB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2606040"/>
            <a:ext cx="50292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200" b="1">
                <a:solidFill>
                  <a:srgbClr val="11A99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108960"/>
            <a:ext cx="214884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000" b="1">
                <a:solidFill>
                  <a:srgbClr val="16233D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611880"/>
            <a:ext cx="2148840" cy="8686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0">
                <a:solidFill>
                  <a:srgbClr val="5D6D84"/>
                </a:solidFill>
                <a:latin typeface="Aptos"/>
              </a:defRPr>
            </a:pPr>
            <a:r>
              <a:t>Review example trial cards and key facts.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2423160"/>
            <a:ext cx="2560320" cy="2240280"/>
          </a:xfrm>
          <a:prstGeom prst="rect">
            <a:avLst/>
          </a:prstGeom>
          <a:solidFill>
            <a:srgbClr val="FFFFFF"/>
          </a:solidFill>
          <a:ln>
            <a:solidFill>
              <a:srgbClr val="DB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606040"/>
            <a:ext cx="50292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200" b="1">
                <a:solidFill>
                  <a:srgbClr val="11A99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108960"/>
            <a:ext cx="214884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000" b="1">
                <a:solidFill>
                  <a:srgbClr val="16233D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611880"/>
            <a:ext cx="2148840" cy="8686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0">
                <a:solidFill>
                  <a:srgbClr val="5D6D84"/>
                </a:solidFill>
                <a:latin typeface="Aptos"/>
              </a:defRPr>
            </a:pPr>
            <a:r>
              <a:t>Read a plain-language explanation and participation notes.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2423160"/>
            <a:ext cx="2560320" cy="2240280"/>
          </a:xfrm>
          <a:prstGeom prst="rect">
            <a:avLst/>
          </a:prstGeom>
          <a:solidFill>
            <a:srgbClr val="FFFFFF"/>
          </a:solidFill>
          <a:ln>
            <a:solidFill>
              <a:srgbClr val="DB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59" y="2606040"/>
            <a:ext cx="50292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200" b="1">
                <a:solidFill>
                  <a:srgbClr val="11A99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59" y="3108960"/>
            <a:ext cx="214884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000" b="1">
                <a:solidFill>
                  <a:srgbClr val="16233D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59" y="3611880"/>
            <a:ext cx="2148840" cy="8686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0">
                <a:solidFill>
                  <a:srgbClr val="5D6D84"/>
                </a:solidFill>
                <a:latin typeface="Aptos"/>
              </a:defRPr>
            </a:pPr>
            <a:r>
              <a:t>Open the official record and talk with a healthcare professional.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1">
                <a:solidFill>
                  <a:srgbClr val="11A99A"/>
                </a:solidFill>
                <a:latin typeface="Aptos"/>
              </a:defRPr>
            </a:pPr>
            <a:r>
              <a:t>04 · DESIGN &amp; ACCESSIBILITY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3200" b="1">
                <a:solidFill>
                  <a:srgbClr val="16233D"/>
                </a:solidFill>
                <a:latin typeface="Aptos"/>
              </a:defRPr>
            </a:pPr>
            <a:r>
              <a:t>Clear, responsive, and source-first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60704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600" b="0">
                <a:solidFill>
                  <a:srgbClr val="5D6D84"/>
                </a:solidFill>
                <a:latin typeface="Aptos"/>
              </a:defRPr>
            </a:pPr>
            <a:r>
              <a:t>The front end is designed to work on both desktop and mobile.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424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16233D"/>
                </a:solidFill>
                <a:latin typeface="Aptos"/>
              </a:defRPr>
            </a:pPr>
            <a:r>
              <a:t>•  Large search field and topic shortcuts reduce friction.</a:t>
            </a:r>
          </a:p>
          <a:p>
            <a:pPr>
              <a:spcAft>
                <a:spcPts val="1700"/>
              </a:spcAft>
              <a:defRPr sz="2000">
                <a:solidFill>
                  <a:srgbClr val="16233D"/>
                </a:solidFill>
                <a:latin typeface="Aptos"/>
              </a:defRPr>
            </a:pPr>
            <a:r>
              <a:t>•  Filters help narrow studies by ZIP code, distance, status, and age group.</a:t>
            </a:r>
          </a:p>
          <a:p>
            <a:pPr>
              <a:spcAft>
                <a:spcPts val="1700"/>
              </a:spcAft>
              <a:defRPr sz="2000">
                <a:solidFill>
                  <a:srgbClr val="16233D"/>
                </a:solidFill>
                <a:latin typeface="Aptos"/>
              </a:defRPr>
            </a:pPr>
            <a:r>
              <a:t>•  A separate overview panel organizes the most important information.</a:t>
            </a:r>
          </a:p>
          <a:p>
            <a:pPr>
              <a:spcAft>
                <a:spcPts val="1700"/>
              </a:spcAft>
              <a:defRPr sz="2000">
                <a:solidFill>
                  <a:srgbClr val="16233D"/>
                </a:solidFill>
                <a:latin typeface="Aptos"/>
              </a:defRPr>
            </a:pPr>
            <a:r>
              <a:t>•  Responsive layout, readable contrast, and clear buttons support usability.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1">
                <a:solidFill>
                  <a:srgbClr val="11A99A"/>
                </a:solidFill>
                <a:latin typeface="Aptos"/>
              </a:defRPr>
            </a:pPr>
            <a:r>
              <a:t>05 ·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3200" b="1">
                <a:solidFill>
                  <a:srgbClr val="16233D"/>
                </a:solidFill>
                <a:latin typeface="Aptos"/>
              </a:defRPr>
            </a:pPr>
            <a:r>
              <a:t>A front end connected to a research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60704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600" b="0">
                <a:solidFill>
                  <a:srgbClr val="5D6D84"/>
                </a:solidFill>
                <a:latin typeface="Aptos"/>
              </a:defRPr>
            </a:pPr>
            <a:r>
              <a:t>The repository describes a local API and pre-indexed study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10424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16233D"/>
                </a:solidFill>
                <a:latin typeface="Aptos"/>
              </a:defRPr>
            </a:pPr>
            <a:r>
              <a:t>•  Frontend: HTML, CSS, and JavaScript preview; integrate with the existing project frontend.</a:t>
            </a:r>
          </a:p>
          <a:p>
            <a:pPr>
              <a:spcAft>
                <a:spcPts val="1700"/>
              </a:spcAft>
              <a:defRPr sz="1900">
                <a:solidFill>
                  <a:srgbClr val="16233D"/>
                </a:solidFill>
                <a:latin typeface="Aptos"/>
              </a:defRPr>
            </a:pPr>
            <a:r>
              <a:t>•  Backend API endpoints: cancer types, search, study details, and summaries.</a:t>
            </a:r>
          </a:p>
          <a:p>
            <a:pPr>
              <a:spcAft>
                <a:spcPts val="1700"/>
              </a:spcAft>
              <a:defRPr sz="1900">
                <a:solidFill>
                  <a:srgbClr val="16233D"/>
                </a:solidFill>
                <a:latin typeface="Aptos"/>
              </a:defRPr>
            </a:pPr>
            <a:r>
              <a:t>•  Search design combines keyword matching with semantic similarity.</a:t>
            </a:r>
          </a:p>
          <a:p>
            <a:pPr>
              <a:spcAft>
                <a:spcPts val="1700"/>
              </a:spcAft>
              <a:defRPr sz="1900">
                <a:solidFill>
                  <a:srgbClr val="16233D"/>
                </a:solidFill>
                <a:latin typeface="Aptos"/>
              </a:defRPr>
            </a:pPr>
            <a:r>
              <a:t>•  Study summaries need faithfulness checks and visible links to source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1">
                <a:solidFill>
                  <a:srgbClr val="11A99A"/>
                </a:solidFill>
                <a:latin typeface="Aptos"/>
              </a:defRPr>
            </a:pPr>
            <a:r>
              <a:t>06 · SAFETY &amp; RESPONSIBILITY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3200" b="1">
                <a:solidFill>
                  <a:srgbClr val="16233D"/>
                </a:solidFill>
                <a:latin typeface="Aptos"/>
              </a:defRPr>
            </a:pPr>
            <a:r>
              <a:t>Helpful information—not medical advice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60704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600" b="0">
                <a:solidFill>
                  <a:srgbClr val="5D6D84"/>
                </a:solidFill>
                <a:latin typeface="Aptos"/>
              </a:defRPr>
            </a:pPr>
            <a:r>
              <a:t>The tool must make its limits clear and preserve the original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10424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16233D"/>
                </a:solidFill>
                <a:latin typeface="Aptos"/>
              </a:defRPr>
            </a:pPr>
            <a:r>
              <a:t>•  It does not diagnose, recommend treatment, or determine eligibility.</a:t>
            </a:r>
          </a:p>
          <a:p>
            <a:pPr>
              <a:spcAft>
                <a:spcPts val="1700"/>
              </a:spcAft>
              <a:defRPr sz="1900">
                <a:solidFill>
                  <a:srgbClr val="16233D"/>
                </a:solidFill>
                <a:latin typeface="Aptos"/>
              </a:defRPr>
            </a:pPr>
            <a:r>
              <a:t>•  A trial's research team and a patient's clinician must answer personal medical questions.</a:t>
            </a:r>
          </a:p>
          <a:p>
            <a:pPr>
              <a:spcAft>
                <a:spcPts val="1700"/>
              </a:spcAft>
              <a:defRPr sz="1900">
                <a:solidFill>
                  <a:srgbClr val="16233D"/>
                </a:solidFill>
                <a:latin typeface="Aptos"/>
              </a:defRPr>
            </a:pPr>
            <a:r>
              <a:t>•  Keep original wording available and link to the official record.</a:t>
            </a:r>
          </a:p>
          <a:p>
            <a:pPr>
              <a:spcAft>
                <a:spcPts val="1700"/>
              </a:spcAft>
              <a:defRPr sz="1900">
                <a:solidFill>
                  <a:srgbClr val="16233D"/>
                </a:solidFill>
                <a:latin typeface="Aptos"/>
              </a:defRPr>
            </a:pPr>
            <a:r>
              <a:t>•  Use real records only after data and interface integration is tested.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00" b="1">
                <a:solidFill>
                  <a:srgbClr val="11A99A"/>
                </a:solidFill>
                <a:latin typeface="Aptos"/>
              </a:defRPr>
            </a:pPr>
            <a:r>
              <a:t>STUDYSEARCH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332720" cy="914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Make research easier to explore.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9875520" cy="11887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200" b="0">
                <a:solidFill>
                  <a:srgbClr val="FFFFFF"/>
                </a:solidFill>
                <a:latin typeface="Aptos"/>
              </a:defRPr>
            </a:pPr>
            <a:r>
              <a:t>A clearer search experience can help patients and families arrive at their care team with better-informed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92040"/>
            <a:ext cx="10424160" cy="548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900" b="1">
                <a:solidFill>
                  <a:srgbClr val="11A99A"/>
                </a:solidFill>
                <a:latin typeface="Aptos"/>
              </a:defRPr>
            </a:pPr>
            <a:r>
              <a:t>Explore • Understand • Verify •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89320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00" b="0">
                <a:solidFill>
                  <a:srgbClr val="CFDBF0"/>
                </a:solidFill>
                <a:latin typeface="Aptos"/>
              </a:defRPr>
            </a:pPr>
            <a:r>
              <a:t>StudySearch is an independent student project; it is not endorsed by NIH, NCI, or ClinicalTrials.gov.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